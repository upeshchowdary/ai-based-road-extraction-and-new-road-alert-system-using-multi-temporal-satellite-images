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4781af0-efb5-2067-4914-e44b1427d2ea}">
          <p14:sldIdLst>
            <p14:sldId id="256"/>
            <p14:sldId id="257"/>
          </p14:sldIdLst>
        </p14:section>
        <p14:section name="Context" id="{b7735237-4510-5f37-6645-6b90cc2d02ff}">
          <p14:sldIdLst>
            <p14:sldId id="258"/>
            <p14:sldId id="259"/>
          </p14:sldIdLst>
        </p14:section>
        <p14:section name="Requirements" id="{c10eeed5-4817-8b69-5dcf-e6c5290b6b65}">
          <p14:sldIdLst>
            <p14:sldId id="260"/>
          </p14:sldIdLst>
        </p14:section>
        <p14:section name="Design" id="{a6a32abe-11fa-04d8-824e-958b6781200b}">
          <p14:sldIdLst>
            <p14:sldId id="261"/>
            <p14:sldId id="262"/>
            <p14:sldId id="263"/>
            <p14:sldId id="264"/>
          </p14:sldIdLst>
        </p14:section>
        <p14:section name="Build" id="{b8e9b2bb-7887-2aa0-7cd4-fa29a6d48e4e}">
          <p14:sldIdLst>
            <p14:sldId id="265"/>
            <p14:sldId id="266"/>
          </p14:sldIdLst>
        </p14:section>
        <p14:section name="Results" id="{02ae6cc0-bef7-282b-60d1-586686d7ed95}">
          <p14:sldIdLst>
            <p14:sldId id="267"/>
            <p14:sldId id="268"/>
          </p14:sldIdLst>
        </p14:section>
        <p14:section name="Close" id="{ed64203e-c659-0f9c-98ad-2f2bc5fbbd43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937"/>
                </a:solidFill>
                <a:latin typeface="+mn-lt"/>
              </a:rPr>
              <a:t>Sentinel-2 models — test IoU (AP holdout)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IoU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v1 ResNet-34</c:v>
                  </c:pt>
                  <c:pt idx="1">
                    <c:v>v2 ResNet-34</c:v>
                  </c:pt>
                  <c:pt idx="2">
                    <c:v>ResNet-50 SSL4EO</c:v>
                  </c:pt>
                  <c:pt idx="3">
                    <c:v>v3 multi-year</c:v>
                  </c:pt>
                  <c:pt idx="4">
                    <c:v>ResNet-50 ImageNet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0.32</c:v>
                </c:pt>
                <c:pt idx="1">
                  <c:v>0.316</c:v>
                </c:pt>
                <c:pt idx="2">
                  <c:v>0.324</c:v>
                </c:pt>
                <c:pt idx="3">
                  <c:v>0.324</c:v>
                </c:pt>
                <c:pt idx="4">
                  <c:v>0.344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937"/>
                </a:solidFill>
                <a:latin typeface="+mn-lt"/>
              </a:rPr>
              <a:t>Zones A–C pooled, verified against OSM history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 (higher is better)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Pixel difference</c:v>
                  </c:pt>
                  <c:pt idx="1">
                    <c:v>Pixel diff. + 30 m</c:v>
                  </c:pt>
                  <c:pt idx="2">
                    <c:v>Graph, 2 dates</c:v>
                  </c:pt>
                  <c:pt idx="3">
                    <c:v>RoadWatch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0.201</c:v>
                </c:pt>
                <c:pt idx="1">
                  <c:v>0.481</c:v>
                </c:pt>
                <c:pt idx="2">
                  <c:v>0.33</c:v>
                </c:pt>
                <c:pt idx="3">
                  <c:v>0.364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Known-false rate (lower is better)</c:v>
                </c:pt>
              </c:strCache>
            </c:strRef>
          </c:tx>
          <c:spPr>
            <a:solidFill>
              <a:srgbClr val="C2410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Pixel difference</c:v>
                  </c:pt>
                  <c:pt idx="1">
                    <c:v>Pixel diff. + 30 m</c:v>
                  </c:pt>
                  <c:pt idx="2">
                    <c:v>Graph, 2 dates</c:v>
                  </c:pt>
                  <c:pt idx="3">
                    <c:v>RoadWatch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0.444</c:v>
                </c:pt>
                <c:pt idx="1">
                  <c:v>0.203</c:v>
                </c:pt>
                <c:pt idx="2">
                  <c:v>0.339</c:v>
                </c:pt>
                <c:pt idx="3">
                  <c:v>0.368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293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Fill in the student names, register numbers and guide before the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Eleven sections, following the Review-II format.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Sentinel-2 L2A composites from the project (zone A). The bridge is the new West Bypass across the Krishna.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objectives from the KL charter; O5 (independent validation) continues in CP2.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 from docs/charter/02_requirements.md. NFR-1 and NFR-6 are partly met: KPI-4/5 and a verified recovery drill are CP2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Sentinel-2 comparisons are paired on the same images with bootstrap CIs (ADR-029). ResNet-50 ImageNet is best (+0.028 over v2); SSL4EO pretraining was rejected on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Heavy work runs on Kaggle; the 512 MB web server only serves pre-built files. ADR-021 (deploy) and ADR-031 (automatic seasons).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rationale is recorded as ADRs in DECISIONS.md.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src/roadwatch/change/detect.py (ADR-020), change/ids.py (stable ids), scripts/alert_flags.py (ADR-026).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from the published data bundle (2026-10-27) and reports/india_map_check.md (2026-10-29).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of the deployed site (alert RW-A001). The site is public and read-only; decisions stay in the browser.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reports/kpi1_cp1.md, kpi23_change_eval.md, kpi6_registration.md, negative_tests.md; ADR-029.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reports/kpi23_change_eval.md. Root cause of the false alerts: models trained on 2025–26 imagery under-extract old roads in 2022 composites (ADR-024/027); multi-year training with dated labels addresses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steps follow ADR-024/027 and the all-India plan (ADR-025).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L_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82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29-10-2026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L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L University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64592"/>
            <a:ext cx="1094509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382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29-10-2026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3840480" y="6382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Review-II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Department of CSE-2</a:t>
            </a:r>
            <a:endParaRPr lang="en-US" sz="11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1463040" y="274320"/>
            <a:ext cx="92354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40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REVIEW-II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868680"/>
            <a:ext cx="99943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accent4"/>
                </a:solidFill>
              </a:rPr>
              <a:t>RoadWatch AP — Automatic Road Extraction and New-Road Change Alerting from Multi-Temporal Satellite Images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1783080"/>
            <a:ext cx="9994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Smart India Hackathon SIH1564 (NTRO)  ·  KL Capstone CLIMATE-06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2286000"/>
            <a:ext cx="63367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[Student name(s)]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[Register number(s)]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2377440" y="3246120"/>
            <a:ext cx="74340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Under the Guidance of</a:t>
            </a:r>
            <a:endParaRPr lang="en-US" sz="18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chemeClr val="accent6"/>
                </a:solidFill>
              </a:rPr>
              <a:t>[Guide name]</a:t>
            </a:r>
            <a:endParaRPr lang="en-US" sz="18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chemeClr val="accent6"/>
                </a:solidFill>
              </a:rPr>
              <a:t>[Designation]</a:t>
            </a:r>
            <a:endParaRPr lang="en-US" sz="18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chemeClr val="accent6"/>
                </a:solidFill>
              </a:rPr>
              <a:t>Department of Computer Science &amp; Engineering</a:t>
            </a:r>
            <a:endParaRPr lang="en-US" sz="1800" dirty="0"/>
          </a:p>
        </p:txBody>
      </p:sp>
      <p:pic>
        <p:nvPicPr>
          <p:cNvPr id="7" name="Image 0" descr="KL University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7252" y="4892040"/>
            <a:ext cx="1357191" cy="56692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377440" y="5623560"/>
            <a:ext cx="7434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KONERU LAKSHMAIAH EDUCATION FOUNDATION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1463040" y="27432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OUTLINE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88720" y="160020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1600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Introduction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33172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3317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Problem Statement &amp; Objectives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306324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3063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Functional &amp; Non-Functional Requirements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379476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37947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Alternative Solutions &amp; Trade-off Analysis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452628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45262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Complete System Architecture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525780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5257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Technology Stack &amp; Design Rationale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160020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086600" y="1600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Detailed Design &amp; Data Flow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33172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23317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Implementation &amp; Unit-Level Progress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06324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086600" y="3063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Live System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379476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37947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Testing &amp; Results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452628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11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086600" y="45262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Conclusion &amp; Future Scope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1463040" y="27432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INTRODUCTION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669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Roads change every season; maps are updated by hand, slowly and incompletely</a:t>
            </a:r>
            <a:endParaRPr lang="en-US" sz="16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Unseen new roads mean planning, logistics and monitoring work from out-of-date evidence</a:t>
            </a:r>
            <a:endParaRPr lang="en-US" sz="16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RoadWatch reads free Sentinel-2 satellite images (10 m, every 5 days), maps every road and alerts on genuinely new ones — with before/after proof</a:t>
            </a:r>
            <a:endParaRPr lang="en-US" sz="16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Built for SIH1564 (NTRO); runs for Andhra Pradesh, Tamil Nadu, Hyderabad, Bengaluru and is being extended to all of India</a:t>
            </a:r>
            <a:endParaRPr lang="en-US" sz="1600" dirty="0"/>
          </a:p>
        </p:txBody>
      </p:sp>
      <p:pic>
        <p:nvPicPr>
          <p:cNvPr id="4" name="Image 0" descr="Sentinel-2, Vijayawada, April 202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463040"/>
            <a:ext cx="2423160" cy="2423160"/>
          </a:xfrm>
          <a:prstGeom prst="rect">
            <a:avLst/>
          </a:prstGeom>
        </p:spPr>
      </p:pic>
      <p:pic>
        <p:nvPicPr>
          <p:cNvPr id="5" name="Image 1" descr="Sentinel-2, Vijayawada, April 202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7152" y="1463040"/>
            <a:ext cx="2423160" cy="24231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583680" y="39319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Pre-monsoon 2022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9217152" y="39319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Pre-monsoon 2024</a:t>
            </a:r>
            <a:endParaRPr lang="en-US" sz="1200" dirty="0"/>
          </a:p>
        </p:txBody>
      </p:sp>
      <p:sp>
        <p:nvSpPr>
          <p:cNvPr id="8" name="example card"/>
          <p:cNvSpPr/>
          <p:nvPr/>
        </p:nvSpPr>
        <p:spPr>
          <a:xfrm>
            <a:off x="6583680" y="4389120"/>
            <a:ext cx="5056632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12280" y="4526280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Same place, two years apart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Vijayawada West Bypass (NH16): the new bridge across the Krishna appears between the two Sentinel-2 seasons — the kind of change RoadWatch alerts 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1463040" y="27432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PROBLEM STATEMENT &amp; OBJECTIVES</a:t>
            </a:r>
            <a:endParaRPr lang="en-US" sz="3400" dirty="0"/>
          </a:p>
        </p:txBody>
      </p:sp>
      <p:sp>
        <p:nvSpPr>
          <p:cNvPr id="3" name="problem card"/>
          <p:cNvSpPr/>
          <p:nvPr/>
        </p:nvSpPr>
        <p:spPr>
          <a:xfrm>
            <a:off x="548640" y="1371600"/>
            <a:ext cx="11091672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Image 0" descr="probl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27632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4630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Road networks change constantly and keeping maps current by hand is slow and incomplete, so spatial decisions are made from misaligned, incomplete or weakly validated evidence. Goal: extract roads automatically from satellite images and raise trustworthy alerts for new ones.</a:t>
            </a:r>
            <a:endParaRPr lang="en-US" sz="1500" dirty="0"/>
          </a:p>
        </p:txBody>
      </p:sp>
      <p:sp>
        <p:nvSpPr>
          <p:cNvPr id="6" name="O1 card"/>
          <p:cNvSpPr/>
          <p:nvPr/>
        </p:nvSpPr>
        <p:spPr>
          <a:xfrm>
            <a:off x="548640" y="2743200"/>
            <a:ext cx="2057400" cy="324612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O1 circle"/>
          <p:cNvSpPr/>
          <p:nvPr/>
        </p:nvSpPr>
        <p:spPr>
          <a:xfrm>
            <a:off x="731520" y="29260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mage 1" descr="O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8" y="3066898"/>
            <a:ext cx="358445" cy="35844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3017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O1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37033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Validate the problem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438912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Charter, requirements, risk register, source-to-claim map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55321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Done</a:t>
            </a:r>
            <a:endParaRPr lang="en-US" sz="1200" dirty="0"/>
          </a:p>
        </p:txBody>
      </p:sp>
      <p:sp>
        <p:nvSpPr>
          <p:cNvPr id="13" name="O2 card"/>
          <p:cNvSpPr/>
          <p:nvPr/>
        </p:nvSpPr>
        <p:spPr>
          <a:xfrm>
            <a:off x="2816352" y="2743200"/>
            <a:ext cx="2057400" cy="324612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O2 circle"/>
          <p:cNvSpPr/>
          <p:nvPr/>
        </p:nvSpPr>
        <p:spPr>
          <a:xfrm>
            <a:off x="2999232" y="29260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O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0050" y="3066898"/>
            <a:ext cx="358445" cy="35844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776472" y="3017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O2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2999232" y="37033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Robust road extraction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2999232" y="438912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U-Net on Sentinel-2; frozen spatial holdout; 95 % CIs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2999232" y="55321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Done</a:t>
            </a:r>
            <a:endParaRPr lang="en-US" sz="1200" dirty="0"/>
          </a:p>
        </p:txBody>
      </p:sp>
      <p:sp>
        <p:nvSpPr>
          <p:cNvPr id="20" name="O3 card"/>
          <p:cNvSpPr/>
          <p:nvPr/>
        </p:nvSpPr>
        <p:spPr>
          <a:xfrm>
            <a:off x="5084064" y="2743200"/>
            <a:ext cx="2057400" cy="324612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O3 circle"/>
          <p:cNvSpPr/>
          <p:nvPr/>
        </p:nvSpPr>
        <p:spPr>
          <a:xfrm>
            <a:off x="5266944" y="29260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mage 3" descr="O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7762" y="3066898"/>
            <a:ext cx="358445" cy="35844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044184" y="3017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O3</a:t>
            </a:r>
            <a:endParaRPr lang="en-US" sz="2000" dirty="0"/>
          </a:p>
        </p:txBody>
      </p:sp>
      <p:sp>
        <p:nvSpPr>
          <p:cNvPr id="24" name="Text 18"/>
          <p:cNvSpPr txBox="1"/>
          <p:nvPr/>
        </p:nvSpPr>
        <p:spPr>
          <a:xfrm>
            <a:off x="5266944" y="37033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Change over time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5266944" y="438912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Graph comparison across 9 seasons, persistence, abstain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5266944" y="55321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Done</a:t>
            </a:r>
            <a:endParaRPr lang="en-US" sz="1200" dirty="0"/>
          </a:p>
        </p:txBody>
      </p:sp>
      <p:sp>
        <p:nvSpPr>
          <p:cNvPr id="27" name="O4 card"/>
          <p:cNvSpPr/>
          <p:nvPr/>
        </p:nvSpPr>
        <p:spPr>
          <a:xfrm>
            <a:off x="7351776" y="2743200"/>
            <a:ext cx="2057400" cy="324612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O4 circle"/>
          <p:cNvSpPr/>
          <p:nvPr/>
        </p:nvSpPr>
        <p:spPr>
          <a:xfrm>
            <a:off x="7534656" y="29260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9" name="Image 4" descr="O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474" y="3066898"/>
            <a:ext cx="358445" cy="35844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8311896" y="3017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O4</a:t>
            </a:r>
            <a:endParaRPr lang="en-US" sz="2000" dirty="0"/>
          </a:p>
        </p:txBody>
      </p:sp>
      <p:sp>
        <p:nvSpPr>
          <p:cNvPr id="31" name="Text 24"/>
          <p:cNvSpPr txBox="1"/>
          <p:nvPr/>
        </p:nvSpPr>
        <p:spPr>
          <a:xfrm>
            <a:off x="7534656" y="37033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Alerts with proof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7534656" y="438912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Scored alerts, evidence chips, flags, live web app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7534656" y="55321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Done</a:t>
            </a:r>
            <a:endParaRPr lang="en-US" sz="1200" dirty="0"/>
          </a:p>
        </p:txBody>
      </p:sp>
      <p:sp>
        <p:nvSpPr>
          <p:cNvPr id="34" name="O5 card"/>
          <p:cNvSpPr/>
          <p:nvPr/>
        </p:nvSpPr>
        <p:spPr>
          <a:xfrm>
            <a:off x="9619488" y="2743200"/>
            <a:ext cx="2057400" cy="324612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O5 circle"/>
          <p:cNvSpPr/>
          <p:nvPr/>
        </p:nvSpPr>
        <p:spPr>
          <a:xfrm>
            <a:off x="9802368" y="292608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6" name="Image 5" descr="O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3186" y="3066898"/>
            <a:ext cx="358445" cy="358445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0579608" y="3017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O5</a:t>
            </a:r>
            <a:endParaRPr lang="en-US" sz="2000" dirty="0"/>
          </a:p>
        </p:txBody>
      </p:sp>
      <p:sp>
        <p:nvSpPr>
          <p:cNvPr id="38" name="Text 30"/>
          <p:cNvSpPr txBox="1"/>
          <p:nvPr/>
        </p:nvSpPr>
        <p:spPr>
          <a:xfrm>
            <a:off x="9802368" y="37033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Independent validation</a:t>
            </a:r>
            <a:endParaRPr lang="en-US" sz="1600" dirty="0"/>
          </a:p>
        </p:txBody>
      </p:sp>
      <p:sp>
        <p:nvSpPr>
          <p:cNvPr id="39" name="Text 31"/>
          <p:cNvSpPr txBox="1"/>
          <p:nvPr/>
        </p:nvSpPr>
        <p:spPr>
          <a:xfrm>
            <a:off x="9802368" y="438912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KPIs vs OSM history, negative tests, all-India check</a:t>
            </a:r>
            <a:endParaRPr lang="en-US" sz="1300" dirty="0"/>
          </a:p>
        </p:txBody>
      </p:sp>
      <p:sp>
        <p:nvSpPr>
          <p:cNvPr id="40" name="Text 32"/>
          <p:cNvSpPr txBox="1"/>
          <p:nvPr/>
        </p:nvSpPr>
        <p:spPr>
          <a:xfrm>
            <a:off x="9802368" y="55321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In progress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1463040" y="27432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FUNCTIONAL &amp; NON-FUNCTIONAL REQUIREMENTS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Functional</a:t>
            </a:r>
            <a:endParaRPr lang="en-US" sz="2000" dirty="0"/>
          </a:p>
        </p:txBody>
      </p:sp>
      <p:sp>
        <p:nvSpPr>
          <p:cNvPr id="4" name="FR-1"/>
          <p:cNvSpPr/>
          <p:nvPr/>
        </p:nvSpPr>
        <p:spPr>
          <a:xfrm>
            <a:off x="548640" y="1920240"/>
            <a:ext cx="53949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92024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FR-1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92024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Ingest Sentinel-2 L2A + OSM labels with provenance and quality gates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120640" y="2048256"/>
            <a:ext cx="685800" cy="310896"/>
          </a:xfrm>
          <a:prstGeom prst="roundRect">
            <a:avLst>
              <a:gd name="adj" fmla="val 1764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Met</a:t>
            </a:r>
            <a:endParaRPr lang="en-US" sz="1100" dirty="0"/>
          </a:p>
        </p:txBody>
      </p:sp>
      <p:sp>
        <p:nvSpPr>
          <p:cNvPr id="8" name="FR-2"/>
          <p:cNvSpPr/>
          <p:nvPr/>
        </p:nvSpPr>
        <p:spPr>
          <a:xfrm>
            <a:off x="548640" y="2606040"/>
            <a:ext cx="53949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60604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FR-2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60604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One-command reproducible training runs (config hash per run)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2734056"/>
            <a:ext cx="685800" cy="310896"/>
          </a:xfrm>
          <a:prstGeom prst="roundRect">
            <a:avLst>
              <a:gd name="adj" fmla="val 1764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Met</a:t>
            </a:r>
            <a:endParaRPr lang="en-US" sz="1100" dirty="0"/>
          </a:p>
        </p:txBody>
      </p:sp>
      <p:sp>
        <p:nvSpPr>
          <p:cNvPr id="12" name="FR-3"/>
          <p:cNvSpPr/>
          <p:nvPr/>
        </p:nvSpPr>
        <p:spPr>
          <a:xfrm>
            <a:off x="548640" y="3291840"/>
            <a:ext cx="53949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29184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FR-3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29184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Change detection as a separate, tested subsystem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3419856"/>
            <a:ext cx="685800" cy="310896"/>
          </a:xfrm>
          <a:prstGeom prst="roundRect">
            <a:avLst>
              <a:gd name="adj" fmla="val 1764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Met</a:t>
            </a:r>
            <a:endParaRPr lang="en-US" sz="1100" dirty="0"/>
          </a:p>
        </p:txBody>
      </p:sp>
      <p:sp>
        <p:nvSpPr>
          <p:cNvPr id="16" name="FR-4"/>
          <p:cNvSpPr/>
          <p:nvPr/>
        </p:nvSpPr>
        <p:spPr>
          <a:xfrm>
            <a:off x="548640" y="3977640"/>
            <a:ext cx="53949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97764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FR-4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97764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Alert layer: score, evidence, input/output contracts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4105656"/>
            <a:ext cx="685800" cy="310896"/>
          </a:xfrm>
          <a:prstGeom prst="roundRect">
            <a:avLst>
              <a:gd name="adj" fmla="val 1764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Met</a:t>
            </a:r>
            <a:endParaRPr lang="en-US" sz="1100" dirty="0"/>
          </a:p>
        </p:txBody>
      </p:sp>
      <p:sp>
        <p:nvSpPr>
          <p:cNvPr id="20" name="FR-5"/>
          <p:cNvSpPr/>
          <p:nvPr/>
        </p:nvSpPr>
        <p:spPr>
          <a:xfrm>
            <a:off x="548640" y="4663440"/>
            <a:ext cx="53949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466344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FR-5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466344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CLI pipeline: s2-build · infer · detect · serve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4791456"/>
            <a:ext cx="685800" cy="310896"/>
          </a:xfrm>
          <a:prstGeom prst="roundRect">
            <a:avLst>
              <a:gd name="adj" fmla="val 1764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Met</a:t>
            </a:r>
            <a:endParaRPr lang="en-US" sz="1100" dirty="0"/>
          </a:p>
        </p:txBody>
      </p:sp>
      <p:sp>
        <p:nvSpPr>
          <p:cNvPr id="24" name="FR-6"/>
          <p:cNvSpPr/>
          <p:nvPr/>
        </p:nvSpPr>
        <p:spPr>
          <a:xfrm>
            <a:off x="548640" y="5349240"/>
            <a:ext cx="53949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534924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FR-6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463040" y="534924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Complete, deployed system — not a notebook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120640" y="5477256"/>
            <a:ext cx="685800" cy="310896"/>
          </a:xfrm>
          <a:prstGeom prst="roundRect">
            <a:avLst>
              <a:gd name="adj" fmla="val 1764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Met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245352" y="13716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Non-functional</a:t>
            </a:r>
            <a:endParaRPr lang="en-US" sz="2000" dirty="0"/>
          </a:p>
        </p:txBody>
      </p:sp>
      <p:sp>
        <p:nvSpPr>
          <p:cNvPr id="29" name="NFR-1"/>
          <p:cNvSpPr/>
          <p:nvPr/>
        </p:nvSpPr>
        <p:spPr>
          <a:xfrm>
            <a:off x="6245352" y="1920240"/>
            <a:ext cx="53949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82512" y="192024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NFR-1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159752" y="192024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Performance: KPIs with 95 % CIs, resource cost recorded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817352" y="2048256"/>
            <a:ext cx="685800" cy="310896"/>
          </a:xfrm>
          <a:prstGeom prst="roundRect">
            <a:avLst>
              <a:gd name="adj" fmla="val 17647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Partly</a:t>
            </a:r>
            <a:endParaRPr lang="en-US" sz="1100" dirty="0"/>
          </a:p>
        </p:txBody>
      </p:sp>
      <p:sp>
        <p:nvSpPr>
          <p:cNvPr id="33" name="NFR-2"/>
          <p:cNvSpPr/>
          <p:nvPr/>
        </p:nvSpPr>
        <p:spPr>
          <a:xfrm>
            <a:off x="6245352" y="2606040"/>
            <a:ext cx="53949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82512" y="260604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NFR-2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159752" y="260604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Reliability: all negative tests pass (14/14)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10817352" y="2734056"/>
            <a:ext cx="685800" cy="310896"/>
          </a:xfrm>
          <a:prstGeom prst="roundRect">
            <a:avLst>
              <a:gd name="adj" fmla="val 1764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Met</a:t>
            </a:r>
            <a:endParaRPr lang="en-US" sz="1100" dirty="0"/>
          </a:p>
        </p:txBody>
      </p:sp>
      <p:sp>
        <p:nvSpPr>
          <p:cNvPr id="37" name="NFR-3"/>
          <p:cNvSpPr/>
          <p:nvPr/>
        </p:nvSpPr>
        <p:spPr>
          <a:xfrm>
            <a:off x="6245352" y="3291840"/>
            <a:ext cx="53949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382512" y="329184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NFR-3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7159752" y="329184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CRS, registration, cloud cover explicit and checked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10817352" y="3419856"/>
            <a:ext cx="685800" cy="310896"/>
          </a:xfrm>
          <a:prstGeom prst="roundRect">
            <a:avLst>
              <a:gd name="adj" fmla="val 1764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Met</a:t>
            </a:r>
            <a:endParaRPr lang="en-US" sz="1100" dirty="0"/>
          </a:p>
        </p:txBody>
      </p:sp>
      <p:sp>
        <p:nvSpPr>
          <p:cNvPr id="41" name="NFR-4"/>
          <p:cNvSpPr/>
          <p:nvPr/>
        </p:nvSpPr>
        <p:spPr>
          <a:xfrm>
            <a:off x="6245352" y="3977640"/>
            <a:ext cx="53949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382512" y="397764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NFR-4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7159752" y="397764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Frozen spatial holdout — no train/test leakage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10817352" y="4105656"/>
            <a:ext cx="685800" cy="310896"/>
          </a:xfrm>
          <a:prstGeom prst="roundRect">
            <a:avLst>
              <a:gd name="adj" fmla="val 1764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Met</a:t>
            </a:r>
            <a:endParaRPr lang="en-US" sz="1100" dirty="0"/>
          </a:p>
        </p:txBody>
      </p:sp>
      <p:sp>
        <p:nvSpPr>
          <p:cNvPr id="45" name="NFR-5"/>
          <p:cNvSpPr/>
          <p:nvPr/>
        </p:nvSpPr>
        <p:spPr>
          <a:xfrm>
            <a:off x="6245352" y="4663440"/>
            <a:ext cx="53949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382512" y="466344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NFR-5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7159752" y="466344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Git, CI, automated tests, Docker build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10817352" y="4791456"/>
            <a:ext cx="685800" cy="310896"/>
          </a:xfrm>
          <a:prstGeom prst="roundRect">
            <a:avLst>
              <a:gd name="adj" fmla="val 1764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Met</a:t>
            </a:r>
            <a:endParaRPr lang="en-US" sz="1100" dirty="0"/>
          </a:p>
        </p:txBody>
      </p:sp>
      <p:sp>
        <p:nvSpPr>
          <p:cNvPr id="49" name="NFR-6"/>
          <p:cNvSpPr/>
          <p:nvPr/>
        </p:nvSpPr>
        <p:spPr>
          <a:xfrm>
            <a:off x="6245352" y="5349240"/>
            <a:ext cx="53949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382512" y="534924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NFR-6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7159752" y="534924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Operability: health, degraded mode (abstain), guides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10817352" y="5477256"/>
            <a:ext cx="685800" cy="310896"/>
          </a:xfrm>
          <a:prstGeom prst="roundRect">
            <a:avLst>
              <a:gd name="adj" fmla="val 17647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Partly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1463040" y="27432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ALTERNATIVE SOLUTIONS &amp; TRADE-OFF ANALYSIS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67512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463040"/>
                <a:gridCol w="1508760"/>
                <a:gridCol w="17373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Approach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Data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Measured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Decision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Pixel difference (classical)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Same model, 2 dates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6,826 alerts, precision 0.20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Baseline only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U-Net ResNet-34 (Baseline A)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DeepGlobe 0.5 m RGB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Test IoU 0.501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Reference; 0.5 m data not free statewide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Frozen DINOv3-sat ViT-L (Ref. B)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DeepGlobe 0.5 m RGB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Test IoU 0.356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Rejected (below A)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U-Net on Sentinel-2 10 m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Andhra Pradesh, 4 bands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Test IoU 0.320 → 0.344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Chosen: free, 5-day revisit, statewide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89204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Graph comparison over 9 seasons cuts reviewer load 16× vs pixel difference; pixel difference with 30 m tolerance stays a strong baseline (see Results).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498080" y="1371600"/>
          <a:ext cx="41605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1463040" y="27432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COMPLETE SYSTEM ARCHITECTURE</a:t>
            </a:r>
            <a:endParaRPr lang="en-US" sz="3400" dirty="0"/>
          </a:p>
        </p:txBody>
      </p:sp>
      <p:sp>
        <p:nvSpPr>
          <p:cNvPr id="3" name="Sources"/>
          <p:cNvSpPr/>
          <p:nvPr/>
        </p:nvSpPr>
        <p:spPr>
          <a:xfrm>
            <a:off x="548640" y="1463040"/>
            <a:ext cx="2514600" cy="278892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ources circle"/>
          <p:cNvSpPr/>
          <p:nvPr/>
        </p:nvSpPr>
        <p:spPr>
          <a:xfrm>
            <a:off x="731520" y="1645920"/>
            <a:ext cx="566928" cy="5669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Image 0" descr="Sour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244" y="1770644"/>
            <a:ext cx="317480" cy="317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6459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Sources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42316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Sentinel-2 L2A (Planetary Computer)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OpenStreetMap (Geofabrik, ohsome)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Esri Wayback (sharp reference)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099816" y="2834640"/>
            <a:ext cx="2743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Kaggle (free CPU / GPU)"/>
          <p:cNvSpPr/>
          <p:nvPr/>
        </p:nvSpPr>
        <p:spPr>
          <a:xfrm>
            <a:off x="3410712" y="1463040"/>
            <a:ext cx="2514600" cy="278892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Kaggle (free CPU / GPU) circle"/>
          <p:cNvSpPr/>
          <p:nvPr/>
        </p:nvSpPr>
        <p:spPr>
          <a:xfrm>
            <a:off x="3593592" y="164592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1" descr="Kaggle (free CPU / GPU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8316" y="1770644"/>
            <a:ext cx="317480" cy="317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79392" y="16459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Kaggle (free CPU / GPU)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593592" y="242316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Seasonal composites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Model training (U-Net)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Statewide screening runs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961888" y="2834640"/>
            <a:ext cx="2743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Merge &amp; publish"/>
          <p:cNvSpPr/>
          <p:nvPr/>
        </p:nvSpPr>
        <p:spPr>
          <a:xfrm>
            <a:off x="6272784" y="1463040"/>
            <a:ext cx="2514600" cy="278892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Merge &amp; publish circle"/>
          <p:cNvSpPr/>
          <p:nvPr/>
        </p:nvSpPr>
        <p:spPr>
          <a:xfrm>
            <a:off x="6455664" y="16459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2" descr="Merge &amp; publis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388" y="1770644"/>
            <a:ext cx="317480" cy="3174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141464" y="16459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Merge &amp; publish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455664" y="242316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Merge, stable ids, flags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Road vector tiles, bundle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GitHub release + commit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8823960" y="2834640"/>
            <a:ext cx="2743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Serve (Render)"/>
          <p:cNvSpPr/>
          <p:nvPr/>
        </p:nvSpPr>
        <p:spPr>
          <a:xfrm>
            <a:off x="9134856" y="1463040"/>
            <a:ext cx="2514600" cy="278892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erve (Render) circle"/>
          <p:cNvSpPr/>
          <p:nvPr/>
        </p:nvSpPr>
        <p:spPr>
          <a:xfrm>
            <a:off x="9317736" y="1645920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3" name="Image 3" descr="Serve (Render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2460" y="1770644"/>
            <a:ext cx="317480" cy="31748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003536" y="16459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Serve (Render)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9317736" y="242316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FastAPI: alerts, evidence, tiles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React + MapLibre web app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Reviews → training labels</a:t>
            </a:r>
            <a:endParaRPr lang="en-US" sz="1400" dirty="0"/>
          </a:p>
        </p:txBody>
      </p:sp>
      <p:sp>
        <p:nvSpPr>
          <p:cNvPr id="26" name="scheduler card"/>
          <p:cNvSpPr/>
          <p:nvPr/>
        </p:nvSpPr>
        <p:spPr>
          <a:xfrm>
            <a:off x="548640" y="4526280"/>
            <a:ext cx="11091672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scheduler circle"/>
          <p:cNvSpPr/>
          <p:nvPr/>
        </p:nvSpPr>
        <p:spPr>
          <a:xfrm>
            <a:off x="777240" y="4818888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Image 4" descr="schedul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291" y="4999939"/>
            <a:ext cx="460858" cy="46085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828800" y="4617720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GitHub Actions scheduler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Twice a year (5 Jun, 5 Jan) it builds the new season on Kaggle, re-screens, merges, flags and republishes the site with no manual step. CI runs lint, tests, holdout check and a Docker smoke test on every push.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1463040" y="27432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TECHNOLOGY STACK &amp; DESIGN RATIONALE</a:t>
            </a:r>
            <a:endParaRPr lang="en-US" sz="3400" dirty="0"/>
          </a:p>
        </p:txBody>
      </p:sp>
      <p:sp>
        <p:nvSpPr>
          <p:cNvPr id="3" name="Geospatial data"/>
          <p:cNvSpPr/>
          <p:nvPr/>
        </p:nvSpPr>
        <p:spPr>
          <a:xfrm>
            <a:off x="548640" y="1371600"/>
            <a:ext cx="5449824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Geospatial data circle"/>
          <p:cNvSpPr/>
          <p:nvPr/>
        </p:nvSpPr>
        <p:spPr>
          <a:xfrm>
            <a:off x="777240" y="160020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Geospatial da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175107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00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Geospatial data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1965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Free, repeatable imagery with recorded provenance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3774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Sentinel-2 L2A via STAC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rasterio / GDAL, GeoPandas, Shapely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Deterministic UTM tile grid</a:t>
            </a:r>
            <a:endParaRPr lang="en-US" sz="1400" dirty="0"/>
          </a:p>
        </p:txBody>
      </p:sp>
      <p:sp>
        <p:nvSpPr>
          <p:cNvPr id="9" name="Machine learning"/>
          <p:cNvSpPr/>
          <p:nvPr/>
        </p:nvSpPr>
        <p:spPr>
          <a:xfrm>
            <a:off x="6190488" y="1371600"/>
            <a:ext cx="5449824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Machine learning circle"/>
          <p:cNvSpPr/>
          <p:nvPr/>
        </p:nvSpPr>
        <p:spPr>
          <a:xfrm>
            <a:off x="6419088" y="16002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Machine learn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964" y="175107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87768" y="1600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Machine learning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7287768" y="1965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CPU inference anywhere; paired evaluation with CIs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7287768" y="23774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PyTorch + segmentation-models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U-Net, ResNet-34 / 50 encoders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ONNX Runtime for inference</a:t>
            </a:r>
            <a:endParaRPr lang="en-US" sz="1400" dirty="0"/>
          </a:p>
        </p:txBody>
      </p:sp>
      <p:sp>
        <p:nvSpPr>
          <p:cNvPr id="15" name="Web &amp; API"/>
          <p:cNvSpPr/>
          <p:nvPr/>
        </p:nvSpPr>
        <p:spPr>
          <a:xfrm>
            <a:off x="548640" y="3749040"/>
            <a:ext cx="5449824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Web &amp; API circle"/>
          <p:cNvSpPr/>
          <p:nvPr/>
        </p:nvSpPr>
        <p:spPr>
          <a:xfrm>
            <a:off x="777240" y="397764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mage 2" descr="Web &amp; AP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" y="4128516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45920" y="3977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Web &amp; API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1645920" y="4343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Fast map of ~1 M road lines on a 512 MB server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1645920" y="47548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FastAPI (Python 3.11)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React, TypeScript, Vite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MapLibre GL vector tiles, three.js</a:t>
            </a:r>
            <a:endParaRPr lang="en-US" sz="1400" dirty="0"/>
          </a:p>
        </p:txBody>
      </p:sp>
      <p:sp>
        <p:nvSpPr>
          <p:cNvPr id="21" name="Ops &amp; quality"/>
          <p:cNvSpPr/>
          <p:nvPr/>
        </p:nvSpPr>
        <p:spPr>
          <a:xfrm>
            <a:off x="6190488" y="3749040"/>
            <a:ext cx="5449824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Ops &amp; quality circle"/>
          <p:cNvSpPr/>
          <p:nvPr/>
        </p:nvSpPr>
        <p:spPr>
          <a:xfrm>
            <a:off x="6419088" y="39776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mage 3" descr="Ops &amp; qualit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964" y="4128516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287768" y="3977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Ops &amp; quality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7287768" y="4343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Every claim reproducible from a config hash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7287768" y="47548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Docker on Render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Kaggle runs, GitHub Actions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pytest (88 tests), ruff, CI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1463040" y="27432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DETAILED DESIGN &amp; DATA FLOW</a:t>
            </a:r>
            <a:endParaRPr lang="en-US" sz="3400" dirty="0"/>
          </a:p>
        </p:txBody>
      </p:sp>
      <p:sp>
        <p:nvSpPr>
          <p:cNvPr id="3" name="Composite"/>
          <p:cNvSpPr/>
          <p:nvPr/>
        </p:nvSpPr>
        <p:spPr>
          <a:xfrm>
            <a:off x="548640" y="1463040"/>
            <a:ext cx="1691640" cy="25146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86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Composite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9748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Median of the 8 least-cloudy passes per season, 10 m, 4 bands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258568" y="2715768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egment"/>
          <p:cNvSpPr/>
          <p:nvPr/>
        </p:nvSpPr>
        <p:spPr>
          <a:xfrm>
            <a:off x="2441448" y="1463040"/>
            <a:ext cx="1691640" cy="25146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24328" y="1645920"/>
            <a:ext cx="502920" cy="50292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624328" y="2286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Segment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624328" y="269748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U-Net road probability per 5.12 km tile (ONNX)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51376" y="2715768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Vectorise"/>
          <p:cNvSpPr/>
          <p:nvPr/>
        </p:nvSpPr>
        <p:spPr>
          <a:xfrm>
            <a:off x="4334256" y="1463040"/>
            <a:ext cx="1691640" cy="25146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17136" y="1645920"/>
            <a:ext cx="502920" cy="50292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517136" y="2286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Vectorise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17136" y="269748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Threshold → skeleton → road graph per season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44184" y="2715768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8" name="Compare"/>
          <p:cNvSpPr/>
          <p:nvPr/>
        </p:nvSpPr>
        <p:spPr>
          <a:xfrm>
            <a:off x="6227064" y="1463040"/>
            <a:ext cx="1691640" cy="25146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9944" y="1645920"/>
            <a:ext cx="502920" cy="50292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409944" y="2286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Compare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09944" y="269748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2022 baseline (25 m buffer) vs every later season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936992" y="2715768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3" name="Confirm"/>
          <p:cNvSpPr/>
          <p:nvPr/>
        </p:nvSpPr>
        <p:spPr>
          <a:xfrm>
            <a:off x="8119872" y="1463040"/>
            <a:ext cx="1691640" cy="25146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02752" y="1645920"/>
            <a:ext cx="502920" cy="50292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8302752" y="2286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Confirm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302752" y="269748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Seen on ≥ 3 later dates, stability ≥ 0.75; cloudy = abstain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829800" y="2715768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8" name="Alert"/>
          <p:cNvSpPr/>
          <p:nvPr/>
        </p:nvSpPr>
        <p:spPr>
          <a:xfrm>
            <a:off x="10012680" y="1463040"/>
            <a:ext cx="1691640" cy="251460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195560" y="1645920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10195560" y="2286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Alert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0195560" y="269748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Score, stable id, flags, before/after evidence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4206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Alert score = model confidence × persistence × connectivity × data quality</a:t>
            </a:r>
            <a:endParaRPr lang="en-US" sz="1800" dirty="0"/>
          </a:p>
        </p:txBody>
      </p:sp>
      <p:sp>
        <p:nvSpPr>
          <p:cNvPr id="33" name="Stable ids"/>
          <p:cNvSpPr/>
          <p:nvPr/>
        </p:nvSpPr>
        <p:spPr>
          <a:xfrm>
            <a:off x="548640" y="4846320"/>
            <a:ext cx="3575304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Stable ids circle"/>
          <p:cNvSpPr/>
          <p:nvPr/>
        </p:nvSpPr>
        <p:spPr>
          <a:xfrm>
            <a:off x="731520" y="50292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5" name="Image 0" descr="Stable i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5149901"/>
            <a:ext cx="307238" cy="307238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1417320" y="4919472"/>
            <a:ext cx="25694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Stable ids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An alert overlapping an earlier one keeps its id, so reviews stay on the same road</a:t>
            </a:r>
            <a:endParaRPr lang="en-US" sz="1500" dirty="0"/>
          </a:p>
        </p:txBody>
      </p:sp>
      <p:sp>
        <p:nvSpPr>
          <p:cNvPr id="37" name="Flags"/>
          <p:cNvSpPr/>
          <p:nvPr/>
        </p:nvSpPr>
        <p:spPr>
          <a:xfrm>
            <a:off x="4306824" y="4846320"/>
            <a:ext cx="3575304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Flags circle"/>
          <p:cNvSpPr/>
          <p:nvPr/>
        </p:nvSpPr>
        <p:spPr>
          <a:xfrm>
            <a:off x="4489704" y="5029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9" name="Image 1" descr="Flag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405" y="5149901"/>
            <a:ext cx="307238" cy="307238"/>
          </a:xfrm>
          <a:prstGeom prst="rect">
            <a:avLst/>
          </a:prstGeom>
        </p:spPr>
      </p:pic>
      <p:sp>
        <p:nvSpPr>
          <p:cNvPr id="40" name="Text 36"/>
          <p:cNvSpPr txBox="1"/>
          <p:nvPr/>
        </p:nvSpPr>
        <p:spPr>
          <a:xfrm>
            <a:off x="5175504" y="4919472"/>
            <a:ext cx="25694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Flags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 a road OSM already had in 2022, or a short line inside dense buildings → listed apart</a:t>
            </a:r>
            <a:endParaRPr lang="en-US" sz="1500" dirty="0"/>
          </a:p>
        </p:txBody>
      </p:sp>
      <p:sp>
        <p:nvSpPr>
          <p:cNvPr id="41" name="Quality gates"/>
          <p:cNvSpPr/>
          <p:nvPr/>
        </p:nvSpPr>
        <p:spPr>
          <a:xfrm>
            <a:off x="8065008" y="4846320"/>
            <a:ext cx="3575304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2" name="Quality gates circle"/>
          <p:cNvSpPr/>
          <p:nvPr/>
        </p:nvSpPr>
        <p:spPr>
          <a:xfrm>
            <a:off x="8247888" y="50292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3" name="Image 2" descr="Quality gat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8589" y="5149901"/>
            <a:ext cx="307238" cy="307238"/>
          </a:xfrm>
          <a:prstGeom prst="rect">
            <a:avLst/>
          </a:prstGeom>
        </p:spPr>
      </p:pic>
      <p:sp>
        <p:nvSpPr>
          <p:cNvPr id="44" name="Text 39"/>
          <p:cNvSpPr txBox="1"/>
          <p:nvPr/>
        </p:nvSpPr>
        <p:spPr>
          <a:xfrm>
            <a:off x="8933688" y="4919472"/>
            <a:ext cx="25694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Quality gates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Mixed CRS or out-of-order seasons are refused; registration error ≤ 1 px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1463040" y="27432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IMPLEMENTATION &amp; UNIT-LEVEL PROGRESS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11,920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3246120" y="14173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alerts published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AP, Tamil Nadu, Hyderabad, Bengaluru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4203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6,449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258775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likely new roads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5,471 flagged as probably not new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12464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2.9 lakh km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3758184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roads extracted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served as map vector tiles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882896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98.7 %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4928616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of South India mapped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64,327 of 65,166 tiles; North running</a:t>
            </a:r>
            <a:endParaRPr lang="en-US" sz="1400" dirty="0"/>
          </a:p>
        </p:txBody>
      </p:sp>
      <p:pic>
        <p:nvPicPr>
          <p:cNvPr id="11" name="Image 0" descr="Live map: extracted roads and alert clusters around Vijayawada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52160" y="1371600"/>
            <a:ext cx="5788152" cy="390448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852160" y="5349240"/>
            <a:ext cx="5788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Live map, Vijayawada: teal = roads extracted by RoadWatch, orange = new-road alerts (numbers = clusters)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1463040" y="27432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THE LIVE SYSTEM — EVERY ALERT WITH PROOF</a:t>
            </a:r>
            <a:endParaRPr lang="en-US" sz="3400" dirty="0"/>
          </a:p>
        </p:txBody>
      </p:sp>
      <p:pic>
        <p:nvPicPr>
          <p:cNvPr id="3" name="Image 0" descr="Alert RW-A001 detail page with before/after imager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7269480" cy="4782312"/>
          </a:xfrm>
          <a:prstGeom prst="rect">
            <a:avLst/>
          </a:prstGeom>
        </p:spPr>
      </p:pic>
      <p:sp>
        <p:nvSpPr>
          <p:cNvPr id="4" name="Before / after circle"/>
          <p:cNvSpPr/>
          <p:nvPr/>
        </p:nvSpPr>
        <p:spPr>
          <a:xfrm>
            <a:off x="813816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1" descr="Before / af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861" y="1583741"/>
            <a:ext cx="307238" cy="30723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823960" y="14173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Before / after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Sharp Esri Wayback imagery for reference; detection itself uses Sentinel-2</a:t>
            </a:r>
            <a:endParaRPr lang="en-US" sz="1500" dirty="0"/>
          </a:p>
        </p:txBody>
      </p:sp>
      <p:sp>
        <p:nvSpPr>
          <p:cNvPr id="7" name="Seen across dates circle"/>
          <p:cNvSpPr/>
          <p:nvPr/>
        </p:nvSpPr>
        <p:spPr>
          <a:xfrm>
            <a:off x="8138160" y="2651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mage 2" descr="Seen across dat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8861" y="2772461"/>
            <a:ext cx="307238" cy="30723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823960" y="26060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Seen across dates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Filmstrip of all 9 seasons: seen, absent or cloudy</a:t>
            </a:r>
            <a:endParaRPr lang="en-US" sz="1500" dirty="0"/>
          </a:p>
        </p:txBody>
      </p:sp>
      <p:sp>
        <p:nvSpPr>
          <p:cNvPr id="10" name="Accept / reject / flag circle"/>
          <p:cNvSpPr/>
          <p:nvPr/>
        </p:nvSpPr>
        <p:spPr>
          <a:xfrm>
            <a:off x="8138160" y="38404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3" descr="Accept / reject / fla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8861" y="3961181"/>
            <a:ext cx="307238" cy="30723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823960" y="37947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Accept / reject / flag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Decisions are exported as training labels</a:t>
            </a:r>
            <a:endParaRPr lang="en-US" sz="1500" dirty="0"/>
          </a:p>
        </p:txBody>
      </p:sp>
      <p:pic>
        <p:nvPicPr>
          <p:cNvPr id="13" name="Image 4" descr="QR code to the live sit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5029200"/>
            <a:ext cx="1051560" cy="105156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9326880" y="5120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Try 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roadwatch-ap.onrender.com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1463040" y="27432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TESTING &amp; RESULTS</a:t>
            </a:r>
            <a:endParaRPr lang="en-US" sz="3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572000"/>
                <a:gridCol w="37764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Check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What was measured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KPI-1 Road extraction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Pixel IoU, AP spatial holdout, 95 % bootstrap CI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0.344 (ResNet-50); v1 0.320 [0.300, 0.338]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KPI-2 New-road precision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Alerts vs OSM history 2022 → 2026, zones A–C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0.364 [0.305, 0.427]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KPI-3 False alerts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Alerts on roads OSM already had in 2022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0.368 vs 0.444 pixel difference (−17 %)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KPI-6 Registration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Shift between seasons, 522 tile pairs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median 0.071 px; 100 % ≤ 1 px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Negative tests NT-1…NT-5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Occlusion, seasonal tracks, CRS, cloud, shift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14 / 14 pass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Engineering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Automated tests + CI (lint, holdout, Docker)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88 tests pass; site API 3–4 s → 0.34 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53212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Honest reading: extraction is measured with confidence intervals and every engineering check passes; change detection beats raw pixel difference, but about 1 in 3 alerts still lies on an old road — those are now flagged and listed apart.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1463040" y="27432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CHANGE DETECTION VS BASELINES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949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alerts to review"/>
          <p:cNvSpPr/>
          <p:nvPr/>
        </p:nvSpPr>
        <p:spPr>
          <a:xfrm>
            <a:off x="7772400" y="1463040"/>
            <a:ext cx="386791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955280" y="15544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413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9418320" y="1554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alerts to review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2194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vs 6,826 from pixel difference — 16× less work</a:t>
            </a:r>
            <a:endParaRPr lang="en-US" sz="1200" dirty="0"/>
          </a:p>
        </p:txBody>
      </p:sp>
      <p:sp>
        <p:nvSpPr>
          <p:cNvPr id="8" name="precision"/>
          <p:cNvSpPr/>
          <p:nvPr/>
        </p:nvSpPr>
        <p:spPr>
          <a:xfrm>
            <a:off x="7772400" y="2944368"/>
            <a:ext cx="386791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955280" y="303580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0.364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9418320" y="30358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precision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955280" y="367588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above pixel difference (0.201); below the 30 m-tolerant variant (0.481)</a:t>
            </a:r>
            <a:endParaRPr lang="en-US" sz="1200" dirty="0"/>
          </a:p>
        </p:txBody>
      </p:sp>
      <p:sp>
        <p:nvSpPr>
          <p:cNvPr id="12" name="alerts flagged"/>
          <p:cNvSpPr/>
          <p:nvPr/>
        </p:nvSpPr>
        <p:spPr>
          <a:xfrm>
            <a:off x="7772400" y="4425696"/>
            <a:ext cx="386791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955280" y="4517136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5,471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9418320" y="4517136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alerts flagged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515721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lie on 2022 OSM roads or are short lines in built-up areas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1463040" y="27432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CONCLUSION &amp; FUTURE SCOPE</a:t>
            </a:r>
            <a:endParaRPr lang="en-US" sz="3400" dirty="0"/>
          </a:p>
        </p:txBody>
      </p:sp>
      <p:sp>
        <p:nvSpPr>
          <p:cNvPr id="3" name="best test IoU (extraction)"/>
          <p:cNvSpPr/>
          <p:nvPr/>
        </p:nvSpPr>
        <p:spPr>
          <a:xfrm>
            <a:off x="548640" y="5120640"/>
            <a:ext cx="3575304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rgbClr val="D5DD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512064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0.344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5120640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best test IoU (extraction)</a:t>
            </a:r>
            <a:endParaRPr lang="en-US" sz="1400" dirty="0"/>
          </a:p>
        </p:txBody>
      </p:sp>
      <p:sp>
        <p:nvSpPr>
          <p:cNvPr id="6" name="fewer alerts than pixel difference"/>
          <p:cNvSpPr/>
          <p:nvPr/>
        </p:nvSpPr>
        <p:spPr>
          <a:xfrm>
            <a:off x="4306824" y="5120640"/>
            <a:ext cx="3575304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rgbClr val="D5DD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89704" y="512064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16×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678424" y="5120640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fewer alerts than pixel difference</a:t>
            </a:r>
            <a:endParaRPr lang="en-US" sz="1400" dirty="0"/>
          </a:p>
        </p:txBody>
      </p:sp>
      <p:sp>
        <p:nvSpPr>
          <p:cNvPr id="9" name="alerts live, updated twice a year"/>
          <p:cNvSpPr/>
          <p:nvPr/>
        </p:nvSpPr>
        <p:spPr>
          <a:xfrm>
            <a:off x="8065008" y="5120640"/>
            <a:ext cx="3575304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rgbClr val="D5DD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47888" y="512064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11,920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9436608" y="5120640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alerts live, updated twice a year</a:t>
            </a:r>
            <a:endParaRPr lang="en-US" sz="1400" dirty="0"/>
          </a:p>
        </p:txBody>
      </p:sp>
      <p:sp>
        <p:nvSpPr>
          <p:cNvPr id="12" name="Conclusion"/>
          <p:cNvSpPr/>
          <p:nvPr/>
        </p:nvSpPr>
        <p:spPr>
          <a:xfrm>
            <a:off x="548640" y="1371600"/>
            <a:ext cx="5449824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Conclusion circle"/>
          <p:cNvSpPr/>
          <p:nvPr/>
        </p:nvSpPr>
        <p:spPr>
          <a:xfrm>
            <a:off x="777240" y="15544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mage 0" descr="Conclus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1695298"/>
            <a:ext cx="358445" cy="358445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600200" y="15544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Conclusion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2377440"/>
            <a:ext cx="49377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complete, deployed system: satellite images in, new-road alerts with proof out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Extraction measured honestly on a frozen holdout (best test IoU 0.344)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Change detection cuts reviewer load 16× and every alert carries evidence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Updates itself twice a year — no laptop, no manual step</a:t>
            </a:r>
            <a:endParaRPr lang="en-US" sz="1500" dirty="0"/>
          </a:p>
        </p:txBody>
      </p:sp>
      <p:sp>
        <p:nvSpPr>
          <p:cNvPr id="17" name="Future scope"/>
          <p:cNvSpPr/>
          <p:nvPr/>
        </p:nvSpPr>
        <p:spPr>
          <a:xfrm>
            <a:off x="6190488" y="1371600"/>
            <a:ext cx="5449824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Future scope circle"/>
          <p:cNvSpPr/>
          <p:nvPr/>
        </p:nvSpPr>
        <p:spPr>
          <a:xfrm>
            <a:off x="6419088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mage 1" descr="Future scop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906" y="1695298"/>
            <a:ext cx="358445" cy="358445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242048" y="15544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Future scope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6464808" y="2377440"/>
            <a:ext cx="49377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Finish the all-India map (North half running) and close the remaining gaps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Multi-year training to cut alerts on old roads (root cause found)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Sentinel-1 radar for the cloudy monsoon months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Field validation with district officials; reviews feed retraining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chemeClr val="tx1"/>
                </a:solidFill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632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accent5"/>
                </a:solidFill>
              </a:rPr>
              <a:t>Questions?</a:t>
            </a:r>
            <a:endParaRPr lang="en-US" sz="2200" dirty="0"/>
          </a:p>
        </p:txBody>
      </p:sp>
      <p:pic>
        <p:nvPicPr>
          <p:cNvPr id="4" name="Image 0" descr="QR code to the live si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9824" y="384048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21208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roadwatch-ap.onrender.com</a:t>
            </a:r>
            <a:endParaRPr lang="en-US" sz="16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1463040" y="27432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adWatch KL">
  <a:themeElements>
    <a:clrScheme name="RoadWatch KL">
      <a:dk1>
        <a:srgbClr val="1F2937"/>
      </a:dk1>
      <a:lt1>
        <a:srgbClr val="FFFFFF"/>
      </a:lt1>
      <a:dk2>
        <a:srgbClr val="0F3D3E"/>
      </a:dk2>
      <a:lt2>
        <a:srgbClr val="F1F5F4"/>
      </a:lt2>
      <a:accent1>
        <a:srgbClr val="C2410C"/>
      </a:accent1>
      <a:accent2>
        <a:srgbClr val="0F766E"/>
      </a:accent2>
      <a:accent3>
        <a:srgbClr val="C00000"/>
      </a:accent3>
      <a:accent4>
        <a:srgbClr val="0070C0"/>
      </a:accent4>
      <a:accent5>
        <a:srgbClr val="64748B"/>
      </a:accent5>
      <a:accent6>
        <a:srgbClr val="00A651"/>
      </a:accent6>
      <a:hlink>
        <a:srgbClr val="0070C0"/>
      </a:hlink>
      <a:folHlink>
        <a:srgbClr val="7030A0"/>
      </a:folHlink>
    </a:clrScheme>
    <a:fontScheme name="RoadWatch K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RoadWatch AP — Automatic Road Extraction and New-Road Change Alerting</dc:title>
  <dc:subject>KL University capstone review (SIH1564 / NTRO)</dc:subject>
  <dc:creator>PptxGenJS</dc:creator>
  <cp:lastModifiedBy>PptxGenJS</cp:lastModifiedBy>
  <cp:revision>1</cp:revision>
  <dcterms:created xsi:type="dcterms:W3CDTF">2026-10-29T10:11:06Z</dcterms:created>
  <dcterms:modified xsi:type="dcterms:W3CDTF">2026-10-29T10:11:06Z</dcterms:modified>
</cp:coreProperties>
</file>