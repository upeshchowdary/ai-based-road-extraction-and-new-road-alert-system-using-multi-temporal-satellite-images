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689336" cy="15124176"/>
  <p:notesSz cx="15124176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ster" id="{aade4320-5109-6750-7d29-39d89c65fb15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 (higher is better)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Pixel diff.</c:v>
                  </c:pt>
                  <c:pt idx="1">
                    <c:v>Pixel diff. +30 m</c:v>
                  </c:pt>
                  <c:pt idx="2">
                    <c:v>Graph, 2 dates</c:v>
                  </c:pt>
                  <c:pt idx="3">
                    <c:v>RoadWatch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0.201</c:v>
                </c:pt>
                <c:pt idx="1">
                  <c:v>0.481</c:v>
                </c:pt>
                <c:pt idx="2">
                  <c:v>0.33</c:v>
                </c:pt>
                <c:pt idx="3">
                  <c:v>0.364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Known-false rate (lower is better)</c:v>
                </c:pt>
              </c:strCache>
            </c:strRef>
          </c:tx>
          <c:spPr>
            <a:solidFill>
              <a:srgbClr val="C2410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Pixel diff.</c:v>
                  </c:pt>
                  <c:pt idx="1">
                    <c:v>Pixel diff. +30 m</c:v>
                  </c:pt>
                  <c:pt idx="2">
                    <c:v>Graph, 2 dates</c:v>
                  </c:pt>
                  <c:pt idx="3">
                    <c:v>RoadWatch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0.444</c:v>
                </c:pt>
                <c:pt idx="1">
                  <c:v>0.203</c:v>
                </c:pt>
                <c:pt idx="2">
                  <c:v>0.339</c:v>
                </c:pt>
                <c:pt idx="3">
                  <c:v>0.368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F293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IoU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v1 ResNet-34</c:v>
                  </c:pt>
                  <c:pt idx="1">
                    <c:v>v2 ResNet-34</c:v>
                  </c:pt>
                  <c:pt idx="2">
                    <c:v>ResNet-50 SSL4EO</c:v>
                  </c:pt>
                  <c:pt idx="3">
                    <c:v>v3 multi-year</c:v>
                  </c:pt>
                  <c:pt idx="4">
                    <c:v>ResNet-50 ImageNet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0.32</c:v>
                </c:pt>
                <c:pt idx="1">
                  <c:v>0.316</c:v>
                </c:pt>
                <c:pt idx="2">
                  <c:v>0.324</c:v>
                </c:pt>
                <c:pt idx="3">
                  <c:v>0.324</c:v>
                </c:pt>
                <c:pt idx="4">
                  <c:v>0.344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2" Type="http://schemas.openxmlformats.org/officeDocument/2006/relationships/chart" Target="/ppt/charts/chart1.xml"/><Relationship Id="rId13" Type="http://schemas.openxmlformats.org/officeDocument/2006/relationships/chart" Target="/ppt/charts/chart2.xm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jpg"/><Relationship Id="rId4" Type="http://schemas.openxmlformats.org/officeDocument/2006/relationships/image" Target="../media/image-1-4.jp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jp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4" Type="http://schemas.openxmlformats.org/officeDocument/2006/relationships/image" Target="../media/image-1-12.jpg"/><Relationship Id="rId15" Type="http://schemas.openxmlformats.org/officeDocument/2006/relationships/image" Target="../media/image-1-13.png"/><Relationship Id="rId16" Type="http://schemas.openxmlformats.org/officeDocument/2006/relationships/image" Target="../media/image-1-14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L University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65760"/>
            <a:ext cx="1707434" cy="7132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331720" y="22860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RoadWatch AP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2240280" y="804672"/>
            <a:ext cx="6217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chemeClr val="accent4"/>
                </a:solidFill>
              </a:rPr>
              <a:t>Automatic Road Extraction and New-Road Change Alerting from Multi-Temporal Satellite Images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2240280" y="144475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[Student name(s)] · [Register number(s)]  ·  Guide: [Guide name], [Designation]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2240280" y="171907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3"/>
                </a:solidFill>
              </a:rPr>
              <a:t>Department of CSE · KONERU LAKSHMAIAH EDUCATION FOUNDATION</a:t>
            </a:r>
            <a:endParaRPr lang="en-US" sz="1150" dirty="0"/>
          </a:p>
        </p:txBody>
      </p:sp>
      <p:pic>
        <p:nvPicPr>
          <p:cNvPr id="7" name="Image 1" descr="QR code to the live si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0576" y="274320"/>
            <a:ext cx="1097280" cy="10972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906256" y="1417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Scan: live demo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8540496" y="16916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SIH1564 (NTRO) · CLIMATE-06</a:t>
            </a:r>
            <a:endParaRPr lang="en-US" sz="950" dirty="0"/>
          </a:p>
        </p:txBody>
      </p:sp>
      <p:pic>
        <p:nvPicPr>
          <p:cNvPr id="10" name="Image 2" descr="Sentinel-2, Vijayawada, April 202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240280"/>
            <a:ext cx="2286000" cy="2286000"/>
          </a:xfrm>
          <a:prstGeom prst="rect">
            <a:avLst/>
          </a:prstGeom>
        </p:spPr>
      </p:pic>
      <p:pic>
        <p:nvPicPr>
          <p:cNvPr id="11" name="Image 3" descr="Sentinel-2, Vijayawada, April 202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2240280"/>
            <a:ext cx="2286000" cy="22860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521208" y="41970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2022</a:t>
            </a:r>
            <a:endParaRPr lang="en-US" sz="1300" dirty="0"/>
          </a:p>
        </p:txBody>
      </p:sp>
      <p:sp>
        <p:nvSpPr>
          <p:cNvPr id="13" name="Text 7"/>
          <p:cNvSpPr txBox="1"/>
          <p:nvPr/>
        </p:nvSpPr>
        <p:spPr>
          <a:xfrm>
            <a:off x="2944368" y="41970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2024</a:t>
            </a:r>
            <a:endParaRPr lang="en-US" sz="1300" dirty="0"/>
          </a:p>
        </p:txBody>
      </p:sp>
      <p:sp>
        <p:nvSpPr>
          <p:cNvPr id="14" name="Text 8"/>
          <p:cNvSpPr txBox="1"/>
          <p:nvPr/>
        </p:nvSpPr>
        <p:spPr>
          <a:xfrm>
            <a:off x="411480" y="459943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Sentinel-2 (10 m), Vijayawada: the new NH16 West Bypass bridge across the Krishna appears between the two seasons.</a:t>
            </a:r>
            <a:endParaRPr lang="en-US" sz="1050" dirty="0"/>
          </a:p>
        </p:txBody>
      </p:sp>
      <p:sp>
        <p:nvSpPr>
          <p:cNvPr id="15" name="problem card"/>
          <p:cNvSpPr/>
          <p:nvPr/>
        </p:nvSpPr>
        <p:spPr>
          <a:xfrm>
            <a:off x="5349240" y="2240280"/>
            <a:ext cx="4928616" cy="2697480"/>
          </a:xfrm>
          <a:prstGeom prst="roundRect">
            <a:avLst>
              <a:gd name="adj" fmla="val 33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he problem icon"/>
          <p:cNvSpPr/>
          <p:nvPr/>
        </p:nvSpPr>
        <p:spPr>
          <a:xfrm>
            <a:off x="5577840" y="24231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4" descr="The problem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0136" y="2505456"/>
            <a:ext cx="219456" cy="21945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080760" y="2404872"/>
            <a:ext cx="4059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The problem</a:t>
            </a:r>
            <a:endParaRPr lang="en-US" sz="1800" dirty="0"/>
          </a:p>
        </p:txBody>
      </p:sp>
      <p:sp>
        <p:nvSpPr>
          <p:cNvPr id="19" name="Text 12"/>
          <p:cNvSpPr txBox="1"/>
          <p:nvPr/>
        </p:nvSpPr>
        <p:spPr>
          <a:xfrm>
            <a:off x="5577840" y="2898648"/>
            <a:ext cx="4471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Roads change every season, but maps are updated by hand — slowly and incompletely, so planning and monitoring work from out-of-date evidence.</a:t>
            </a:r>
            <a:endParaRPr lang="en-US" sz="1250" dirty="0"/>
          </a:p>
        </p:txBody>
      </p:sp>
      <p:sp>
        <p:nvSpPr>
          <p:cNvPr id="20" name="Our goal icon"/>
          <p:cNvSpPr/>
          <p:nvPr/>
        </p:nvSpPr>
        <p:spPr>
          <a:xfrm>
            <a:off x="5577840" y="37490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mage 5" descr="Our goal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0136" y="3831336"/>
            <a:ext cx="219456" cy="219456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6080760" y="3730752"/>
            <a:ext cx="4059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Our goal</a:t>
            </a:r>
            <a:endParaRPr lang="en-US" sz="1800" dirty="0"/>
          </a:p>
        </p:txBody>
      </p:sp>
      <p:sp>
        <p:nvSpPr>
          <p:cNvPr id="23" name="Text 15"/>
          <p:cNvSpPr txBox="1"/>
          <p:nvPr/>
        </p:nvSpPr>
        <p:spPr>
          <a:xfrm>
            <a:off x="5577840" y="4224528"/>
            <a:ext cx="4471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Read free satellite images, map every road and raise trustworthy alerts for genuinely new roads — each with before/after proof.</a:t>
            </a:r>
            <a:endParaRPr lang="en-US" sz="1250" dirty="0"/>
          </a:p>
        </p:txBody>
      </p:sp>
      <p:sp>
        <p:nvSpPr>
          <p:cNvPr id="24" name="How it works icon"/>
          <p:cNvSpPr/>
          <p:nvPr/>
        </p:nvSpPr>
        <p:spPr>
          <a:xfrm>
            <a:off x="411480" y="51206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Image 6" descr="How it work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" y="5202936"/>
            <a:ext cx="219456" cy="219456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914400" y="5102352"/>
            <a:ext cx="9363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How it works</a:t>
            </a:r>
            <a:endParaRPr lang="en-US" sz="1800" dirty="0"/>
          </a:p>
        </p:txBody>
      </p:sp>
      <p:sp>
        <p:nvSpPr>
          <p:cNvPr id="27" name="Composite"/>
          <p:cNvSpPr/>
          <p:nvPr/>
        </p:nvSpPr>
        <p:spPr>
          <a:xfrm>
            <a:off x="411480" y="5623560"/>
            <a:ext cx="1552956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19"/>
          <p:cNvSpPr txBox="1"/>
          <p:nvPr/>
        </p:nvSpPr>
        <p:spPr>
          <a:xfrm>
            <a:off x="530352" y="5742432"/>
            <a:ext cx="365760" cy="36576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9" name="Text 20"/>
          <p:cNvSpPr txBox="1"/>
          <p:nvPr/>
        </p:nvSpPr>
        <p:spPr>
          <a:xfrm>
            <a:off x="978408" y="5742432"/>
            <a:ext cx="91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Composite</a:t>
            </a:r>
            <a:endParaRPr lang="en-US" sz="1250" dirty="0"/>
          </a:p>
        </p:txBody>
      </p:sp>
      <p:sp>
        <p:nvSpPr>
          <p:cNvPr id="30" name="Text 21"/>
          <p:cNvSpPr txBox="1"/>
          <p:nvPr/>
        </p:nvSpPr>
        <p:spPr>
          <a:xfrm>
            <a:off x="530352" y="6172200"/>
            <a:ext cx="13517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Median of the 8 least-cloudy passes per season</a:t>
            </a:r>
            <a:endParaRPr lang="en-US" sz="1000" dirty="0"/>
          </a:p>
        </p:txBody>
      </p:sp>
      <p:sp>
        <p:nvSpPr>
          <p:cNvPr id="31" name="Segment"/>
          <p:cNvSpPr/>
          <p:nvPr/>
        </p:nvSpPr>
        <p:spPr>
          <a:xfrm>
            <a:off x="2074164" y="5623560"/>
            <a:ext cx="1552956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23"/>
          <p:cNvSpPr txBox="1"/>
          <p:nvPr/>
        </p:nvSpPr>
        <p:spPr>
          <a:xfrm>
            <a:off x="2193036" y="5742432"/>
            <a:ext cx="365760" cy="36576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33" name="Text 24"/>
          <p:cNvSpPr txBox="1"/>
          <p:nvPr/>
        </p:nvSpPr>
        <p:spPr>
          <a:xfrm>
            <a:off x="2641092" y="5742432"/>
            <a:ext cx="91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Segment</a:t>
            </a:r>
            <a:endParaRPr lang="en-US" sz="1250" dirty="0"/>
          </a:p>
        </p:txBody>
      </p:sp>
      <p:sp>
        <p:nvSpPr>
          <p:cNvPr id="34" name="Text 25"/>
          <p:cNvSpPr txBox="1"/>
          <p:nvPr/>
        </p:nvSpPr>
        <p:spPr>
          <a:xfrm>
            <a:off x="2193036" y="6172200"/>
            <a:ext cx="13517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U-Net (ResNet) road probability, ONNX</a:t>
            </a:r>
            <a:endParaRPr lang="en-US" sz="1000" dirty="0"/>
          </a:p>
        </p:txBody>
      </p:sp>
      <p:sp>
        <p:nvSpPr>
          <p:cNvPr id="35" name="Vectorise"/>
          <p:cNvSpPr/>
          <p:nvPr/>
        </p:nvSpPr>
        <p:spPr>
          <a:xfrm>
            <a:off x="3736848" y="5623560"/>
            <a:ext cx="1552956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ext 27"/>
          <p:cNvSpPr txBox="1"/>
          <p:nvPr/>
        </p:nvSpPr>
        <p:spPr>
          <a:xfrm>
            <a:off x="3855720" y="5742432"/>
            <a:ext cx="365760" cy="36576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7" name="Text 28"/>
          <p:cNvSpPr txBox="1"/>
          <p:nvPr/>
        </p:nvSpPr>
        <p:spPr>
          <a:xfrm>
            <a:off x="4303776" y="5742432"/>
            <a:ext cx="91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Vectorise</a:t>
            </a:r>
            <a:endParaRPr lang="en-US" sz="1250" dirty="0"/>
          </a:p>
        </p:txBody>
      </p:sp>
      <p:sp>
        <p:nvSpPr>
          <p:cNvPr id="38" name="Text 29"/>
          <p:cNvSpPr txBox="1"/>
          <p:nvPr/>
        </p:nvSpPr>
        <p:spPr>
          <a:xfrm>
            <a:off x="3855720" y="6172200"/>
            <a:ext cx="13517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Skeleton → road graph per season</a:t>
            </a:r>
            <a:endParaRPr lang="en-US" sz="1000" dirty="0"/>
          </a:p>
        </p:txBody>
      </p:sp>
      <p:sp>
        <p:nvSpPr>
          <p:cNvPr id="39" name="Compare"/>
          <p:cNvSpPr/>
          <p:nvPr/>
        </p:nvSpPr>
        <p:spPr>
          <a:xfrm>
            <a:off x="5399532" y="5623560"/>
            <a:ext cx="1552956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Text 31"/>
          <p:cNvSpPr txBox="1"/>
          <p:nvPr/>
        </p:nvSpPr>
        <p:spPr>
          <a:xfrm>
            <a:off x="5518404" y="5742432"/>
            <a:ext cx="365760" cy="36576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41" name="Text 32"/>
          <p:cNvSpPr txBox="1"/>
          <p:nvPr/>
        </p:nvSpPr>
        <p:spPr>
          <a:xfrm>
            <a:off x="5966460" y="5742432"/>
            <a:ext cx="91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Compare</a:t>
            </a:r>
            <a:endParaRPr lang="en-US" sz="1250" dirty="0"/>
          </a:p>
        </p:txBody>
      </p:sp>
      <p:sp>
        <p:nvSpPr>
          <p:cNvPr id="42" name="Text 33"/>
          <p:cNvSpPr txBox="1"/>
          <p:nvPr/>
        </p:nvSpPr>
        <p:spPr>
          <a:xfrm>
            <a:off x="5518404" y="6172200"/>
            <a:ext cx="13517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2022 baseline vs every later season</a:t>
            </a:r>
            <a:endParaRPr lang="en-US" sz="1000" dirty="0"/>
          </a:p>
        </p:txBody>
      </p:sp>
      <p:sp>
        <p:nvSpPr>
          <p:cNvPr id="43" name="Confirm"/>
          <p:cNvSpPr/>
          <p:nvPr/>
        </p:nvSpPr>
        <p:spPr>
          <a:xfrm>
            <a:off x="7062216" y="5623560"/>
            <a:ext cx="1552956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7181088" y="5742432"/>
            <a:ext cx="365760" cy="36576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45" name="Text 36"/>
          <p:cNvSpPr txBox="1"/>
          <p:nvPr/>
        </p:nvSpPr>
        <p:spPr>
          <a:xfrm>
            <a:off x="7629144" y="5742432"/>
            <a:ext cx="91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Confirm</a:t>
            </a:r>
            <a:endParaRPr lang="en-US" sz="1250" dirty="0"/>
          </a:p>
        </p:txBody>
      </p:sp>
      <p:sp>
        <p:nvSpPr>
          <p:cNvPr id="46" name="Text 37"/>
          <p:cNvSpPr txBox="1"/>
          <p:nvPr/>
        </p:nvSpPr>
        <p:spPr>
          <a:xfrm>
            <a:off x="7181088" y="6172200"/>
            <a:ext cx="13517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Seen ≥ 3 later dates; cloudy = abstain</a:t>
            </a:r>
            <a:endParaRPr lang="en-US" sz="1000" dirty="0"/>
          </a:p>
        </p:txBody>
      </p:sp>
      <p:sp>
        <p:nvSpPr>
          <p:cNvPr id="47" name="Alert"/>
          <p:cNvSpPr/>
          <p:nvPr/>
        </p:nvSpPr>
        <p:spPr>
          <a:xfrm>
            <a:off x="8724900" y="5623560"/>
            <a:ext cx="1552956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8" name="Text 39"/>
          <p:cNvSpPr txBox="1"/>
          <p:nvPr/>
        </p:nvSpPr>
        <p:spPr>
          <a:xfrm>
            <a:off x="8843772" y="5742432"/>
            <a:ext cx="365760" cy="36576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9" name="Text 40"/>
          <p:cNvSpPr txBox="1"/>
          <p:nvPr/>
        </p:nvSpPr>
        <p:spPr>
          <a:xfrm>
            <a:off x="9291828" y="5742432"/>
            <a:ext cx="91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Alert</a:t>
            </a:r>
            <a:endParaRPr lang="en-US" sz="1250" dirty="0"/>
          </a:p>
        </p:txBody>
      </p:sp>
      <p:sp>
        <p:nvSpPr>
          <p:cNvPr id="50" name="Text 41"/>
          <p:cNvSpPr txBox="1"/>
          <p:nvPr/>
        </p:nvSpPr>
        <p:spPr>
          <a:xfrm>
            <a:off x="8843772" y="6172200"/>
            <a:ext cx="13517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Score, stable id, flags, evidence</a:t>
            </a:r>
            <a:endParaRPr lang="en-US" sz="1000" dirty="0"/>
          </a:p>
        </p:txBody>
      </p:sp>
      <p:sp>
        <p:nvSpPr>
          <p:cNvPr id="51" name="Text 42"/>
          <p:cNvSpPr txBox="1"/>
          <p:nvPr/>
        </p:nvSpPr>
        <p:spPr>
          <a:xfrm>
            <a:off x="411480" y="6922008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Alert score = model confidence × persistence × connectivity × data quality</a:t>
            </a:r>
            <a:endParaRPr lang="en-US" sz="1300" dirty="0"/>
          </a:p>
        </p:txBody>
      </p:sp>
      <p:sp>
        <p:nvSpPr>
          <p:cNvPr id="52" name="Results at scale — live at roadwatch-ap.onrender.com icon"/>
          <p:cNvSpPr/>
          <p:nvPr/>
        </p:nvSpPr>
        <p:spPr>
          <a:xfrm>
            <a:off x="411480" y="736092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3" name="Image 7" descr="Results at scale — live at roadwatch-ap.onrender.com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" y="7443216"/>
            <a:ext cx="219456" cy="219456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914400" y="7342632"/>
            <a:ext cx="9363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Results at scale — live at roadwatch-ap.onrender.com</a:t>
            </a:r>
            <a:endParaRPr lang="en-US" sz="1800" dirty="0"/>
          </a:p>
        </p:txBody>
      </p:sp>
      <p:pic>
        <p:nvPicPr>
          <p:cNvPr id="55" name="Image 8" descr="Live map around Vijayawada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411480" y="7863840"/>
            <a:ext cx="5852160" cy="2468880"/>
          </a:xfrm>
          <a:prstGeom prst="rect">
            <a:avLst/>
          </a:prstGeom>
        </p:spPr>
      </p:pic>
      <p:sp>
        <p:nvSpPr>
          <p:cNvPr id="56" name="Text 45"/>
          <p:cNvSpPr txBox="1"/>
          <p:nvPr/>
        </p:nvSpPr>
        <p:spPr>
          <a:xfrm>
            <a:off x="411480" y="10378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Teal = roads extracted by RoadWatch · orange = new-road alerts</a:t>
            </a:r>
            <a:endParaRPr lang="en-US" sz="950" dirty="0"/>
          </a:p>
        </p:txBody>
      </p:sp>
      <p:sp>
        <p:nvSpPr>
          <p:cNvPr id="57" name="alerts published"/>
          <p:cNvSpPr/>
          <p:nvPr/>
        </p:nvSpPr>
        <p:spPr>
          <a:xfrm>
            <a:off x="6492240" y="7863840"/>
            <a:ext cx="3785616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8" name="Text 47"/>
          <p:cNvSpPr txBox="1"/>
          <p:nvPr/>
        </p:nvSpPr>
        <p:spPr>
          <a:xfrm>
            <a:off x="6656832" y="78638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2"/>
                </a:solidFill>
              </a:rPr>
              <a:t>11,920</a:t>
            </a:r>
            <a:endParaRPr lang="en-US" sz="2100" dirty="0"/>
          </a:p>
        </p:txBody>
      </p:sp>
      <p:sp>
        <p:nvSpPr>
          <p:cNvPr id="59" name="Text 48"/>
          <p:cNvSpPr txBox="1"/>
          <p:nvPr/>
        </p:nvSpPr>
        <p:spPr>
          <a:xfrm>
            <a:off x="8366760" y="7863840"/>
            <a:ext cx="1819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alerts published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AP · Tamil Nadu · Hyderabad · Bengaluru</a:t>
            </a:r>
            <a:endParaRPr lang="en-US" sz="1150" dirty="0"/>
          </a:p>
        </p:txBody>
      </p:sp>
      <p:sp>
        <p:nvSpPr>
          <p:cNvPr id="60" name="likely new roads"/>
          <p:cNvSpPr/>
          <p:nvPr/>
        </p:nvSpPr>
        <p:spPr>
          <a:xfrm>
            <a:off x="6492240" y="8503920"/>
            <a:ext cx="3785616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1" name="Text 50"/>
          <p:cNvSpPr txBox="1"/>
          <p:nvPr/>
        </p:nvSpPr>
        <p:spPr>
          <a:xfrm>
            <a:off x="6656832" y="85039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6,449</a:t>
            </a:r>
            <a:endParaRPr lang="en-US" sz="2100" dirty="0"/>
          </a:p>
        </p:txBody>
      </p:sp>
      <p:sp>
        <p:nvSpPr>
          <p:cNvPr id="62" name="Text 51"/>
          <p:cNvSpPr txBox="1"/>
          <p:nvPr/>
        </p:nvSpPr>
        <p:spPr>
          <a:xfrm>
            <a:off x="8366760" y="8503920"/>
            <a:ext cx="1819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likely new roads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5,471 flagged as probably not new</a:t>
            </a:r>
            <a:endParaRPr lang="en-US" sz="1150" dirty="0"/>
          </a:p>
        </p:txBody>
      </p:sp>
      <p:sp>
        <p:nvSpPr>
          <p:cNvPr id="63" name="roads extracted"/>
          <p:cNvSpPr/>
          <p:nvPr/>
        </p:nvSpPr>
        <p:spPr>
          <a:xfrm>
            <a:off x="6492240" y="9144000"/>
            <a:ext cx="3785616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4" name="Text 53"/>
          <p:cNvSpPr txBox="1"/>
          <p:nvPr/>
        </p:nvSpPr>
        <p:spPr>
          <a:xfrm>
            <a:off x="6656832" y="91440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2"/>
                </a:solidFill>
              </a:rPr>
              <a:t>2.9 lakh km</a:t>
            </a:r>
            <a:endParaRPr lang="en-US" sz="2100" dirty="0"/>
          </a:p>
        </p:txBody>
      </p:sp>
      <p:sp>
        <p:nvSpPr>
          <p:cNvPr id="65" name="Text 54"/>
          <p:cNvSpPr txBox="1"/>
          <p:nvPr/>
        </p:nvSpPr>
        <p:spPr>
          <a:xfrm>
            <a:off x="8366760" y="9144000"/>
            <a:ext cx="1819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roads extracted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served as map vector tiles</a:t>
            </a:r>
            <a:endParaRPr lang="en-US" sz="1150" dirty="0"/>
          </a:p>
        </p:txBody>
      </p:sp>
      <p:sp>
        <p:nvSpPr>
          <p:cNvPr id="66" name="of South India mapped"/>
          <p:cNvSpPr/>
          <p:nvPr/>
        </p:nvSpPr>
        <p:spPr>
          <a:xfrm>
            <a:off x="6492240" y="9784080"/>
            <a:ext cx="3785616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7" name="Text 56"/>
          <p:cNvSpPr txBox="1"/>
          <p:nvPr/>
        </p:nvSpPr>
        <p:spPr>
          <a:xfrm>
            <a:off x="6656832" y="97840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2"/>
                </a:solidFill>
              </a:rPr>
              <a:t>98.7 %</a:t>
            </a:r>
            <a:endParaRPr lang="en-US" sz="2100" dirty="0"/>
          </a:p>
        </p:txBody>
      </p:sp>
      <p:sp>
        <p:nvSpPr>
          <p:cNvPr id="68" name="Text 57"/>
          <p:cNvSpPr txBox="1"/>
          <p:nvPr/>
        </p:nvSpPr>
        <p:spPr>
          <a:xfrm>
            <a:off x="8366760" y="9784080"/>
            <a:ext cx="1819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of South India mapped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all-India map in progress</a:t>
            </a:r>
            <a:endParaRPr lang="en-US" sz="1150" dirty="0"/>
          </a:p>
        </p:txBody>
      </p:sp>
      <p:sp>
        <p:nvSpPr>
          <p:cNvPr id="69" name="Change detection vs baselines (zones A–C) icon"/>
          <p:cNvSpPr/>
          <p:nvPr/>
        </p:nvSpPr>
        <p:spPr>
          <a:xfrm>
            <a:off x="411480" y="1074420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0" name="Image 9" descr="Change detection vs baselines (zones A–C)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" y="10826496"/>
            <a:ext cx="219456" cy="219456"/>
          </a:xfrm>
          <a:prstGeom prst="rect">
            <a:avLst/>
          </a:prstGeom>
        </p:spPr>
      </p:pic>
      <p:sp>
        <p:nvSpPr>
          <p:cNvPr id="71" name="Text 59"/>
          <p:cNvSpPr txBox="1"/>
          <p:nvPr/>
        </p:nvSpPr>
        <p:spPr>
          <a:xfrm>
            <a:off x="914400" y="10725912"/>
            <a:ext cx="4315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Change detection vs baselines (zones A–C)</a:t>
            </a:r>
            <a:endParaRPr lang="en-US" sz="1800" dirty="0"/>
          </a:p>
        </p:txBody>
      </p:sp>
      <p:sp>
        <p:nvSpPr>
          <p:cNvPr id="72" name="Road extraction models icon"/>
          <p:cNvSpPr/>
          <p:nvPr/>
        </p:nvSpPr>
        <p:spPr>
          <a:xfrm>
            <a:off x="5458968" y="1074420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3" name="Image 10" descr="Road extraction models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41264" y="10826496"/>
            <a:ext cx="219456" cy="219456"/>
          </a:xfrm>
          <a:prstGeom prst="rect">
            <a:avLst/>
          </a:prstGeom>
        </p:spPr>
      </p:pic>
      <p:sp>
        <p:nvSpPr>
          <p:cNvPr id="74" name="Text 61"/>
          <p:cNvSpPr txBox="1"/>
          <p:nvPr/>
        </p:nvSpPr>
        <p:spPr>
          <a:xfrm>
            <a:off x="5961888" y="10725912"/>
            <a:ext cx="4315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Road extraction models</a:t>
            </a:r>
            <a:endParaRPr lang="en-US" sz="1800" dirty="0"/>
          </a:p>
        </p:txBody>
      </p:sp>
      <p:graphicFrame>
        <p:nvGraphicFramePr>
          <p:cNvPr id="75" name="Chart 0" descr=""/>
          <p:cNvGraphicFramePr/>
          <p:nvPr/>
        </p:nvGraphicFramePr>
        <p:xfrm>
          <a:off x="411480" y="11201400"/>
          <a:ext cx="4818888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2"/>
          </a:graphicData>
        </a:graphic>
      </p:graphicFrame>
      <p:graphicFrame>
        <p:nvGraphicFramePr>
          <p:cNvPr id="76" name="Chart 1" descr=""/>
          <p:cNvGraphicFramePr/>
          <p:nvPr/>
        </p:nvGraphicFramePr>
        <p:xfrm>
          <a:off x="5458968" y="11201400"/>
          <a:ext cx="4818888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3"/>
          </a:graphicData>
        </a:graphic>
      </p:graphicFrame>
      <p:pic>
        <p:nvPicPr>
          <p:cNvPr id="77" name="Image 11" descr="Alert RW-A001 before/after swipe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1480" y="13167360"/>
            <a:ext cx="2423160" cy="1463883"/>
          </a:xfrm>
          <a:prstGeom prst="rect">
            <a:avLst/>
          </a:prstGeom>
        </p:spPr>
      </p:pic>
      <p:sp>
        <p:nvSpPr>
          <p:cNvPr id="78" name="Text 62"/>
          <p:cNvSpPr txBox="1"/>
          <p:nvPr/>
        </p:nvSpPr>
        <p:spPr>
          <a:xfrm>
            <a:off x="411480" y="14338635"/>
            <a:ext cx="2423160" cy="274320"/>
          </a:xfrm>
          <a:prstGeom prst="rect">
            <a:avLst/>
          </a:prstGeom>
          <a:solidFill>
            <a:srgbClr val="0F3D3E">
              <a:alpha val="8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Every alert has proof: before | after</a:t>
            </a:r>
            <a:endParaRPr lang="en-US" sz="1000" dirty="0"/>
          </a:p>
        </p:txBody>
      </p:sp>
      <p:sp>
        <p:nvSpPr>
          <p:cNvPr id="79" name="Conclusion"/>
          <p:cNvSpPr/>
          <p:nvPr/>
        </p:nvSpPr>
        <p:spPr>
          <a:xfrm>
            <a:off x="3063240" y="13167360"/>
            <a:ext cx="3538728" cy="1463883"/>
          </a:xfrm>
          <a:prstGeom prst="roundRect">
            <a:avLst>
              <a:gd name="adj" fmla="val 62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0" name="Conclusion icon"/>
          <p:cNvSpPr/>
          <p:nvPr/>
        </p:nvSpPr>
        <p:spPr>
          <a:xfrm>
            <a:off x="3200400" y="1327708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1" name="Image 12" descr="Conclusion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82696" y="13359384"/>
            <a:ext cx="219456" cy="219456"/>
          </a:xfrm>
          <a:prstGeom prst="rect">
            <a:avLst/>
          </a:prstGeom>
        </p:spPr>
      </p:pic>
      <p:sp>
        <p:nvSpPr>
          <p:cNvPr id="82" name="Text 65"/>
          <p:cNvSpPr txBox="1"/>
          <p:nvPr/>
        </p:nvSpPr>
        <p:spPr>
          <a:xfrm>
            <a:off x="3703320" y="13258800"/>
            <a:ext cx="2852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Conclusion</a:t>
            </a:r>
            <a:endParaRPr lang="en-US" sz="1800" dirty="0"/>
          </a:p>
        </p:txBody>
      </p:sp>
      <p:sp>
        <p:nvSpPr>
          <p:cNvPr id="83" name="Text 66"/>
          <p:cNvSpPr txBox="1"/>
          <p:nvPr/>
        </p:nvSpPr>
        <p:spPr>
          <a:xfrm>
            <a:off x="3227832" y="13734288"/>
            <a:ext cx="3264408" cy="823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Deployed end to end; 16× fewer alerts than pixel difference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KPIs measured honestly; 14/14 negative tests pass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Updates itself twice a year — no manual step</a:t>
            </a:r>
            <a:endParaRPr lang="en-US" sz="1050" dirty="0"/>
          </a:p>
        </p:txBody>
      </p:sp>
      <p:sp>
        <p:nvSpPr>
          <p:cNvPr id="84" name="Future scope"/>
          <p:cNvSpPr/>
          <p:nvPr/>
        </p:nvSpPr>
        <p:spPr>
          <a:xfrm>
            <a:off x="6739128" y="13167360"/>
            <a:ext cx="3538728" cy="1463883"/>
          </a:xfrm>
          <a:prstGeom prst="roundRect">
            <a:avLst>
              <a:gd name="adj" fmla="val 62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5" name="Future scope icon"/>
          <p:cNvSpPr/>
          <p:nvPr/>
        </p:nvSpPr>
        <p:spPr>
          <a:xfrm>
            <a:off x="6876288" y="1327708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6" name="Image 13" descr="Future scope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58584" y="13359384"/>
            <a:ext cx="219456" cy="219456"/>
          </a:xfrm>
          <a:prstGeom prst="rect">
            <a:avLst/>
          </a:prstGeom>
        </p:spPr>
      </p:pic>
      <p:sp>
        <p:nvSpPr>
          <p:cNvPr id="87" name="Text 69"/>
          <p:cNvSpPr txBox="1"/>
          <p:nvPr/>
        </p:nvSpPr>
        <p:spPr>
          <a:xfrm>
            <a:off x="7379208" y="13258800"/>
            <a:ext cx="2852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Future scope</a:t>
            </a:r>
            <a:endParaRPr lang="en-US" sz="1800" dirty="0"/>
          </a:p>
        </p:txBody>
      </p:sp>
      <p:sp>
        <p:nvSpPr>
          <p:cNvPr id="88" name="Text 70"/>
          <p:cNvSpPr txBox="1"/>
          <p:nvPr/>
        </p:nvSpPr>
        <p:spPr>
          <a:xfrm>
            <a:off x="6903720" y="13734288"/>
            <a:ext cx="3264408" cy="823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All-India map; multi-year training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Sentinel-1 radar for monsoon months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Field validation; reviews feed retraining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adWatch KL">
  <a:themeElements>
    <a:clrScheme name="RoadWatch KL">
      <a:dk1>
        <a:srgbClr val="1F2937"/>
      </a:dk1>
      <a:lt1>
        <a:srgbClr val="FFFFFF"/>
      </a:lt1>
      <a:dk2>
        <a:srgbClr val="0F3D3E"/>
      </a:dk2>
      <a:lt2>
        <a:srgbClr val="F1F5F4"/>
      </a:lt2>
      <a:accent1>
        <a:srgbClr val="C2410C"/>
      </a:accent1>
      <a:accent2>
        <a:srgbClr val="0F766E"/>
      </a:accent2>
      <a:accent3>
        <a:srgbClr val="C00000"/>
      </a:accent3>
      <a:accent4>
        <a:srgbClr val="0070C0"/>
      </a:accent4>
      <a:accent5>
        <a:srgbClr val="64748B"/>
      </a:accent5>
      <a:accent6>
        <a:srgbClr val="00A651"/>
      </a:accent6>
      <a:hlink>
        <a:srgbClr val="0070C0"/>
      </a:hlink>
      <a:folHlink>
        <a:srgbClr val="7030A0"/>
      </a:folHlink>
    </a:clrScheme>
    <a:fontScheme name="RoadWatch K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RoadWatch AP — A3 poster</dc:title>
  <dc:subject>PptxGenJS Presentation</dc:subject>
  <dc:creator>PptxGenJS</dc:creator>
  <cp:lastModifiedBy>PptxGenJS</cp:lastModifiedBy>
  <cp:revision>1</cp:revision>
  <dcterms:created xsi:type="dcterms:W3CDTF">2026-10-29T10:13:51Z</dcterms:created>
  <dcterms:modified xsi:type="dcterms:W3CDTF">2026-10-29T10:13:51Z</dcterms:modified>
</cp:coreProperties>
</file>